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1.3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2" r:id="rId4"/>
    <p:sldId id="264" r:id="rId5"/>
    <p:sldId id="266" r:id="rId6"/>
  </p:sldIdLst>
  <p:sldSz cx="15519400" cy="87249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11" Type="http://schemas.openxmlformats.org/officeDocument/2006/relationships/tableStyles" Target="tableStyles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tags" Target="tags/tag1.xml" /><Relationship Id="rId8" Type="http://schemas.openxmlformats.org/officeDocument/2006/relationships/presProps" Target="presProps.xml" /><Relationship Id="rId9" Type="http://schemas.openxmlformats.org/officeDocument/2006/relationships/viewProps" Target="viewProp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23C4338-B9B4-4411-99C8-14DB1EC5854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10CC22B-96E2-4083-A522-9F05BC85A8D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C9CA21D-21A6-4578-ACE1-8B5CAB7112D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1228C49-A576-42CB-ABA1-8F1F837D619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8FB648D0-31A8-4662-BF24-BB2DF9BCE01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0B275D99-1954-4C6B-8CDB-E5F18BFC5BF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A5BE5704-ADB8-49F0-B513-8E4BC3AD107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83B36160-5D2A-45A6-9EE7-AB97EA8FF03C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66FEECD-B71C-4CE3-9D49-1FF97A57CC0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5184539-F072-4983-B332-418B6FE7C77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3FDFE51-0DEA-4466-8B3F-46E59E23AF2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image" Target="../media/image5.png" /><Relationship Id="rId5" Type="http://schemas.openxmlformats.org/officeDocument/2006/relationships/image" Target="../media/image6.png" /><Relationship Id="rId6" Type="http://schemas.openxmlformats.org/officeDocument/2006/relationships/image" Target="../media/image7.pn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8.png" /><Relationship Id="rId3" Type="http://schemas.openxmlformats.org/officeDocument/2006/relationships/image" Target="../media/image9.pn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0.png" /><Relationship Id="rId3" Type="http://schemas.openxmlformats.org/officeDocument/2006/relationships/image" Target="../media/image11.png" /><Relationship Id="rId4" Type="http://schemas.openxmlformats.org/officeDocument/2006/relationships/image" Target="../media/image12.pn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image13.png" /><Relationship Id="rId3" Type="http://schemas.openxmlformats.org/officeDocument/2006/relationships/image" Target="../media/image14.png" /><Relationship Id="rId4" Type="http://schemas.openxmlformats.org/officeDocument/2006/relationships/image" Target="../media/image15.png" /><Relationship Id="rId5" Type="http://schemas.openxmlformats.org/officeDocument/2006/relationships/image" Target="../media/image16.png" /><Relationship Id="rId6" Type="http://schemas.openxmlformats.org/officeDocument/2006/relationships/image" Target="../media/image17.png" /><Relationship Id="rId7" Type="http://schemas.openxmlformats.org/officeDocument/2006/relationships/image" Target="../media/image18.png" /><Relationship Id="rId8" Type="http://schemas.openxmlformats.org/officeDocument/2006/relationships/image" Target="../media/image19.png" /><Relationship Id="rId9" Type="http://schemas.openxmlformats.org/officeDocument/2006/relationships/image" Target="../media/image2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/>
          <p:cNvSpPr/>
          <p:nvPr/>
        </p:nvSpPr>
        <p:spPr>
          <a:xfrm>
            <a:off x="4927410" y="689914"/>
            <a:ext cx="5987255" cy="13942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7749" b="1">
                <a:solidFill>
                  <a:srgbClr val="389440"/>
                </a:solidFill>
              </a:rPr>
              <a:t>Profit Insight</a:t>
            </a:r>
          </a:p>
        </p:txBody>
      </p:sp>
      <p:pic>
        <p:nvPicPr>
          <p:cNvPr id="3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2586567" y="323144"/>
            <a:ext cx="1939925" cy="1938544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3556530" y="2585156"/>
            <a:ext cx="8427201" cy="454487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10178139" y="7152802"/>
            <a:ext cx="1887536" cy="701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1717">
                <a:solidFill>
                  <a:prstClr val="black"/>
                </a:solidFill>
              </a:rPr>
              <a:t>Profit by countries</a:t>
            </a: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8062161" y="3533741"/>
            <a:ext cx="7175636" cy="3596285"/>
          </a:xfrm>
          <a:prstGeom prst="rect">
            <a:avLst/>
          </a:prstGeom>
        </p:spPr>
      </p:pic>
      <p:sp>
        <p:nvSpPr>
          <p:cNvPr id="3" name="New shape"/>
          <p:cNvSpPr/>
          <p:nvPr/>
        </p:nvSpPr>
        <p:spPr>
          <a:xfrm>
            <a:off x="1694202" y="366606"/>
            <a:ext cx="12293179" cy="1716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4836" b="1">
                <a:solidFill>
                  <a:prstClr val="black"/>
                </a:solidFill>
              </a:rPr>
              <a:t>Italy </a:t>
            </a:r>
            <a:r>
              <a:rPr sz="4836">
                <a:solidFill>
                  <a:prstClr val="black"/>
                </a:solidFill>
              </a:rPr>
              <a:t>and </a:t>
            </a:r>
            <a:r>
              <a:rPr sz="4836" b="1">
                <a:solidFill>
                  <a:prstClr val="black"/>
                </a:solidFill>
              </a:rPr>
              <a:t>France</a:t>
            </a:r>
            <a:r>
              <a:rPr sz="4836">
                <a:solidFill>
                  <a:prstClr val="black"/>
                </a:solidFill>
              </a:rPr>
              <a:t> have low </a:t>
            </a:r>
            <a:r>
              <a:rPr sz="4836" b="1">
                <a:solidFill>
                  <a:prstClr val="black"/>
                </a:solidFill>
              </a:rPr>
              <a:t>Gross Profit Margin %</a:t>
            </a:r>
            <a:r>
              <a:rPr sz="4836">
                <a:solidFill>
                  <a:prstClr val="black"/>
                </a:solidFill>
              </a:rPr>
              <a:t> </a:t>
            </a:r>
            <a:br>
              <a:rPr sz="4836">
                <a:solidFill>
                  <a:prstClr val="black"/>
                </a:solidFill>
              </a:rPr>
            </a:br>
            <a:r>
              <a:rPr sz="4836">
                <a:solidFill>
                  <a:prstClr val="black"/>
                </a:solidFill>
              </a:rPr>
              <a:t>in comparison to their </a:t>
            </a:r>
            <a:r>
              <a:rPr sz="4836" b="1">
                <a:solidFill>
                  <a:prstClr val="black"/>
                </a:solidFill>
              </a:rPr>
              <a:t>Profit</a:t>
            </a:r>
            <a:br>
              <a:rPr sz="4836" b="1">
                <a:solidFill>
                  <a:prstClr val="black"/>
                </a:solidFill>
              </a:rPr>
            </a:br>
          </a:p>
        </p:txBody>
      </p:sp>
      <p:sp>
        <p:nvSpPr>
          <p:cNvPr id="4" name="New shape"/>
          <p:cNvSpPr/>
          <p:nvPr/>
        </p:nvSpPr>
        <p:spPr>
          <a:xfrm>
            <a:off x="5328327" y="7152802"/>
            <a:ext cx="1887536" cy="701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1717">
                <a:solidFill>
                  <a:prstClr val="black"/>
                </a:solidFill>
              </a:rPr>
              <a:t>Profit by countries</a:t>
            </a:r>
          </a:p>
        </p:txBody>
      </p:sp>
      <p:sp>
        <p:nvSpPr>
          <p:cNvPr id="5" name="New shape"/>
          <p:cNvSpPr/>
          <p:nvPr/>
        </p:nvSpPr>
        <p:spPr>
          <a:xfrm>
            <a:off x="11471422" y="7152802"/>
            <a:ext cx="3754453" cy="7010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1717">
                <a:solidFill>
                  <a:prstClr val="black"/>
                </a:solidFill>
              </a:rPr>
              <a:t>Gross Profit Margin % across countries</a:t>
            </a:r>
          </a:p>
        </p:txBody>
      </p:sp>
      <p:pic>
        <p:nvPicPr>
          <p:cNvPr id="6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323320" y="3554589"/>
            <a:ext cx="6810597" cy="3596285"/>
          </a:xfrm>
          <a:prstGeom prst="rect">
            <a:avLst/>
          </a:prstGeom>
        </p:spPr>
      </p:pic>
      <p:pic>
        <p:nvPicPr>
          <p:cNvPr id="7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3378246" y="5191159"/>
            <a:ext cx="1313820" cy="1313103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7436379" y="5170311"/>
            <a:ext cx="667502" cy="667137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11316229" y="5170311"/>
            <a:ext cx="1313820" cy="1313103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6789738" y="322821"/>
            <a:ext cx="8427034" cy="2606128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323157" y="4180030"/>
            <a:ext cx="8103880" cy="4242574"/>
          </a:xfrm>
          <a:prstGeom prst="rect">
            <a:avLst/>
          </a:prstGeom>
        </p:spPr>
      </p:pic>
      <p:sp>
        <p:nvSpPr>
          <p:cNvPr id="4" name="New shape"/>
          <p:cNvSpPr/>
          <p:nvPr/>
        </p:nvSpPr>
        <p:spPr>
          <a:xfrm>
            <a:off x="400591" y="1012732"/>
            <a:ext cx="6260545" cy="17167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4836" b="1">
                <a:solidFill>
                  <a:prstClr val="black"/>
                </a:solidFill>
              </a:rPr>
              <a:t>Tables </a:t>
            </a:r>
            <a:r>
              <a:rPr sz="4836">
                <a:solidFill>
                  <a:prstClr val="black"/>
                </a:solidFill>
              </a:rPr>
              <a:t>(sub-category) </a:t>
            </a:r>
            <a:br>
              <a:rPr sz="4836">
                <a:solidFill>
                  <a:prstClr val="black"/>
                </a:solidFill>
              </a:rPr>
            </a:br>
            <a:r>
              <a:rPr sz="4836">
                <a:solidFill>
                  <a:prstClr val="black"/>
                </a:solidFill>
              </a:rPr>
              <a:t>have the lowest</a:t>
            </a:r>
            <a:r>
              <a:rPr sz="4836" b="1">
                <a:solidFill>
                  <a:prstClr val="black"/>
                </a:solidFill>
              </a:rPr>
              <a:t> Profit...</a:t>
            </a:r>
            <a:br>
              <a:rPr sz="4836" b="1">
                <a:solidFill>
                  <a:prstClr val="black"/>
                </a:solidFill>
              </a:rPr>
            </a:br>
          </a:p>
        </p:txBody>
      </p:sp>
      <p:sp>
        <p:nvSpPr>
          <p:cNvPr id="5" name="New shape"/>
          <p:cNvSpPr/>
          <p:nvPr/>
        </p:nvSpPr>
        <p:spPr>
          <a:xfrm>
            <a:off x="8807259" y="5860224"/>
            <a:ext cx="5987255" cy="92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4947">
                <a:solidFill>
                  <a:prstClr val="black"/>
                </a:solidFill>
              </a:rPr>
              <a:t>...except in UK!</a:t>
            </a:r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/>
          <p:cNvSpPr/>
          <p:nvPr/>
        </p:nvSpPr>
        <p:spPr>
          <a:xfrm>
            <a:off x="400591" y="366606"/>
            <a:ext cx="7820754" cy="92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4947">
                <a:solidFill>
                  <a:prstClr val="black"/>
                </a:solidFill>
              </a:rPr>
              <a:t>Customers with similar </a:t>
            </a:r>
            <a:r>
              <a:rPr sz="4947" b="1">
                <a:solidFill>
                  <a:prstClr val="black"/>
                </a:solidFill>
              </a:rPr>
              <a:t>sales...</a:t>
            </a:r>
          </a:p>
        </p:txBody>
      </p:sp>
      <p:sp>
        <p:nvSpPr>
          <p:cNvPr id="3" name="New shape"/>
          <p:cNvSpPr/>
          <p:nvPr/>
        </p:nvSpPr>
        <p:spPr>
          <a:xfrm>
            <a:off x="7190656" y="7152802"/>
            <a:ext cx="7900449" cy="9245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>
            <a:defPPr>
              <a:defRPr>
                <a:latin typeface="Arial Unicode MS"/>
                <a:ea typeface="Arial Unicode MS"/>
              </a:defRPr>
            </a:defPPr>
          </a:lstStyle>
          <a:p>
            <a:r>
              <a:rPr sz="4947">
                <a:solidFill>
                  <a:prstClr val="black"/>
                </a:solidFill>
              </a:rPr>
              <a:t>...what makes them profitable?</a:t>
            </a:r>
          </a:p>
        </p:txBody>
      </p:sp>
      <p:pic>
        <p:nvPicPr>
          <p:cNvPr id="4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3556530" y="1615723"/>
            <a:ext cx="8425362" cy="5531178"/>
          </a:xfrm>
          <a:prstGeom prst="rect">
            <a:avLst/>
          </a:prstGeom>
        </p:spPr>
      </p:pic>
      <p:pic>
        <p:nvPicPr>
          <p:cNvPr id="5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7284080" y="2945723"/>
            <a:ext cx="551400" cy="665001"/>
          </a:xfrm>
          <a:prstGeom prst="rect">
            <a:avLst/>
          </a:prstGeom>
        </p:spPr>
      </p:pic>
      <p:pic>
        <p:nvPicPr>
          <p:cNvPr id="6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7226578" y="5170311"/>
            <a:ext cx="665661" cy="665001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xml="http://www.w3.org/XML/1998/namespace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pic>
        <p:nvPicPr>
          <p:cNvPr id="2" name="New 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328002" y="3578543"/>
            <a:ext cx="5999089" cy="4876609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6327091" y="791909"/>
            <a:ext cx="6598999" cy="4876609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4"/>
          <a:stretch>
            <a:fillRect/>
          </a:stretch>
        </p:blipFill>
        <p:spPr>
          <a:xfrm>
            <a:off x="6327091" y="5668518"/>
            <a:ext cx="6598999" cy="2786634"/>
          </a:xfrm>
          <a:prstGeom prst="rect">
            <a:avLst/>
          </a:prstGeom>
        </p:spPr>
      </p:pic>
      <p:pic>
        <p:nvPicPr>
          <p:cNvPr id="5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927911" y="95250"/>
            <a:ext cx="2399636" cy="696659"/>
          </a:xfrm>
          <a:prstGeom prst="rect">
            <a:avLst/>
          </a:prstGeom>
        </p:spPr>
      </p:pic>
      <p:pic>
        <p:nvPicPr>
          <p:cNvPr id="6" name="New 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3927456" y="95250"/>
            <a:ext cx="2399636" cy="696659"/>
          </a:xfrm>
          <a:prstGeom prst="rect">
            <a:avLst/>
          </a:prstGeom>
        </p:spPr>
      </p:pic>
      <p:pic>
        <p:nvPicPr>
          <p:cNvPr id="7" name="New picture"/>
          <p:cNvPicPr/>
          <p:nvPr/>
        </p:nvPicPr>
        <p:blipFill>
          <a:blip r:embed="rId7"/>
          <a:stretch>
            <a:fillRect/>
          </a:stretch>
        </p:blipFill>
        <p:spPr>
          <a:xfrm>
            <a:off x="6927000" y="95250"/>
            <a:ext cx="2399636" cy="696659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8"/>
          <a:stretch>
            <a:fillRect/>
          </a:stretch>
        </p:blipFill>
        <p:spPr>
          <a:xfrm>
            <a:off x="9926545" y="95250"/>
            <a:ext cx="2399636" cy="696659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9"/>
          <a:stretch>
            <a:fillRect/>
          </a:stretch>
        </p:blipFill>
        <p:spPr>
          <a:xfrm>
            <a:off x="328002" y="791908"/>
            <a:ext cx="5999089" cy="2786634"/>
          </a:xfrm>
          <a:prstGeom prst="rect">
            <a:avLst/>
          </a:prstGeom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21.03.14"/>
  <p:tag name="AS_TITLE" val="Aspose.Slides for .NET 4.0 Client Profile"/>
  <p:tag name="AS_VERSION" val="21.3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 pitchFamily="34" charset="0"/>
        <a:cs typeface="Arial" pitchFamily="34" charset="0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9</Paragraphs>
  <Slides>5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9">
      <vt:lpstr>Arial</vt:lpstr>
      <vt:lpstr>Calibri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21.0300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2026-01-15T18:45:54.974</cp:lastPrinted>
  <dcterms:created xsi:type="dcterms:W3CDTF">2026-01-15T17:45:54Z</dcterms:created>
  <dcterms:modified xsi:type="dcterms:W3CDTF">2026-01-15T17:45:55Z</dcterms:modified>
</cp:coreProperties>
</file>